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359863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96696"/>
          </a:xfrm>
          <a:prstGeom prst="rect">
            <a:avLst/>
          </a:prstGeom>
          <a:solidFill>
            <a:srgbClr val="C810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D4A0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28600" y="91440"/>
            <a:ext cx="11704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Royal Enfield App Review Analysis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228600" y="685800"/>
            <a:ext cx="11704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E0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Understanding User Intent through NLP  |  Data Science Technical Assignment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" y="1325880"/>
            <a:ext cx="5394960" cy="5166360"/>
          </a:xfrm>
          <a:prstGeom prst="rect">
            <a:avLst/>
          </a:prstGeom>
          <a:solidFill>
            <a:srgbClr val="222222"/>
          </a:solidFill>
          <a:ln w="12700">
            <a:solidFill>
              <a:srgbClr val="C810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11480" y="1325880"/>
            <a:ext cx="5394960" cy="384048"/>
          </a:xfrm>
          <a:prstGeom prst="rect">
            <a:avLst/>
          </a:prstGeom>
          <a:solidFill>
            <a:srgbClr val="C810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21208" y="1362456"/>
            <a:ext cx="5212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76072" y="1856232"/>
            <a:ext cx="5120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Context: </a:t>
            </a: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Royal Enfield's RE-Prime app receives thousands of Play Store reviews — impossible to read manually at scale.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76072" y="2532888"/>
            <a:ext cx="5120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Goal: </a:t>
            </a: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 structured L1 (topic) + L2 (business impact) intent from unstructured text.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76072" y="3209544"/>
            <a:ext cx="5120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Outcome: </a:t>
            </a: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Translate raw user feedback into a data-driven, prioritized product roadmap with P0-P3 scoring.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76072" y="3995928"/>
            <a:ext cx="2331720" cy="685800"/>
          </a:xfrm>
          <a:prstGeom prst="rect">
            <a:avLst/>
          </a:prstGeom>
          <a:solidFill>
            <a:srgbClr val="1A3A4A"/>
          </a:solidFill>
          <a:ln w="12700">
            <a:solidFill>
              <a:srgbClr val="1976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12648" y="4023360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4B5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L1 Intent (What)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12648" y="427024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BDE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 Bugs  UI/UX  Support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BBDE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 Billing  Features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063240" y="3995928"/>
            <a:ext cx="2560320" cy="685800"/>
          </a:xfrm>
          <a:prstGeom prst="rect">
            <a:avLst/>
          </a:prstGeom>
          <a:solidFill>
            <a:srgbClr val="1A3A2A"/>
          </a:solidFill>
          <a:ln w="12700">
            <a:solidFill>
              <a:srgbClr val="388E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099816" y="402336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81C7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L2 Impact (Why it matters)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099816" y="427024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8E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Retention  Brand Trust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8E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Engagement  Revenue  Roadmap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76072" y="4782312"/>
            <a:ext cx="5120640" cy="1078992"/>
          </a:xfrm>
          <a:prstGeom prst="rect">
            <a:avLst/>
          </a:prstGeom>
          <a:solidFill>
            <a:srgbClr val="1C1C1C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576072" y="4782312"/>
            <a:ext cx="5120640" cy="256032"/>
          </a:xfrm>
          <a:prstGeom prst="rect">
            <a:avLst/>
          </a:prstGeom>
          <a:solidFill>
            <a:srgbClr val="2A22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30936" y="480060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ASSUMPTIONS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30936" y="507492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Scope: </a:t>
            </a:r>
            <a:r>
              <a:rPr lang="en-US" sz="8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English-language reviews, India Play Store (en_IN), sorted newest-first
</a:t>
            </a:r>
            <a:r>
              <a:rPr lang="en-US" sz="850" b="1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Data: </a:t>
            </a:r>
            <a:r>
              <a:rPr lang="en-US" sz="8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3,000 reviews requested, 2,543 retained after dedup &amp; length filter
</a:t>
            </a:r>
            <a:r>
              <a:rPr lang="en-US" sz="850" b="1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NLP: </a:t>
            </a:r>
            <a:r>
              <a:rPr lang="en-US" sz="85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Keyword classifier chosen for POC — interpretable, fast, no GPU. Designed to upgrade to DistilBERT in production.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446520" y="1325880"/>
            <a:ext cx="5394960" cy="5166360"/>
          </a:xfrm>
          <a:prstGeom prst="rect">
            <a:avLst/>
          </a:prstGeom>
          <a:solidFill>
            <a:srgbClr val="222222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6446520" y="1325880"/>
            <a:ext cx="5394960" cy="384048"/>
          </a:xfrm>
          <a:prstGeom prst="rect">
            <a:avLst/>
          </a:prstGeom>
          <a:solidFill>
            <a:srgbClr val="D4A0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556248" y="1362456"/>
            <a:ext cx="5212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APPROACH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611112" y="1828800"/>
            <a:ext cx="384048" cy="384048"/>
          </a:xfrm>
          <a:prstGeom prst="rect">
            <a:avLst/>
          </a:prstGeom>
          <a:solidFill>
            <a:srgbClr val="C810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611112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086600" y="182880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Scrape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086600" y="2121408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google-play-scraper fetches real reviews from India region (com.royalenfield.reprime) with rate limiting &amp; deduplication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611112" y="2944368"/>
            <a:ext cx="384048" cy="384048"/>
          </a:xfrm>
          <a:prstGeom prst="rect">
            <a:avLst/>
          </a:prstGeom>
          <a:solidFill>
            <a:srgbClr val="C810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611112" y="29443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7086600" y="294436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Classify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086600" y="3236976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review gets an L1 topic (keyword NLP, extendable to BERT) and L2 business impact via rule mapping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611112" y="4059936"/>
            <a:ext cx="384048" cy="384048"/>
          </a:xfrm>
          <a:prstGeom prst="rect">
            <a:avLst/>
          </a:prstGeom>
          <a:solidFill>
            <a:srgbClr val="C810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6611112" y="4059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7086600" y="4059936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Prioritize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7086600" y="4352544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Issues scored: Frequency (60%) + Impact score (40%) -&gt; P0 Critical through P3 Low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611112" y="5175504"/>
            <a:ext cx="384048" cy="384048"/>
          </a:xfrm>
          <a:prstGeom prst="rect">
            <a:avLst/>
          </a:prstGeom>
          <a:solidFill>
            <a:srgbClr val="C810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6611112" y="51755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7086600" y="5175504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7086600" y="5468112"/>
            <a:ext cx="4617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Data-driven action items with timelines, verbatim quotes, and a scaling roadmap to production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11480" y="1051560"/>
            <a:ext cx="11338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chemeClr val="bg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sampling of reviews before building the classifier revealed a clear pattern: buffering service bookings, OTP failures, and unresolved complaints repeating across 4 years. This pipeline converts that signal into a data-driven, prioritised product roadmap.</a:t>
            </a:r>
            <a:endParaRPr lang="en-US" sz="850" dirty="0">
              <a:solidFill>
                <a:schemeClr val="bg2"/>
              </a:solidFill>
            </a:endParaRPr>
          </a:p>
        </p:txBody>
      </p:sp>
      <p:sp>
        <p:nvSpPr>
          <p:cNvPr id="42" name="Shape 40"/>
          <p:cNvSpPr/>
          <p:nvPr/>
        </p:nvSpPr>
        <p:spPr>
          <a:xfrm>
            <a:off x="0" y="6492240"/>
            <a:ext cx="12161520" cy="329184"/>
          </a:xfrm>
          <a:prstGeom prst="rect">
            <a:avLst/>
          </a:prstGeom>
          <a:solidFill>
            <a:srgbClr val="0D0D0D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228600" y="6510528"/>
            <a:ext cx="1170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 Stack:  google-play-scraper  &gt;  Keyword NLP (BERT-ready)  &gt;  pandas / numpy  &gt;  matplotlib / seaborn  &gt;  pptxgenjs</a:t>
            </a:r>
            <a:endParaRPr lang="en-US" sz="95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04672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01168" cy="804672"/>
          </a:xfrm>
          <a:prstGeom prst="rect">
            <a:avLst/>
          </a:prstGeom>
          <a:solidFill>
            <a:srgbClr val="C810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54864"/>
            <a:ext cx="116128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Overview — 2,543 Real Reviews (Jul 2022 to Apr 2026)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38328" y="932688"/>
            <a:ext cx="26060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38328" y="932688"/>
            <a:ext cx="2606040" cy="164592"/>
          </a:xfrm>
          <a:prstGeom prst="rect">
            <a:avLst/>
          </a:prstGeom>
          <a:solidFill>
            <a:srgbClr val="C810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84048" y="1133856"/>
            <a:ext cx="2514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2,543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384048" y="1609344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Reviews Scraped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82696" y="932688"/>
            <a:ext cx="26060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282696" y="932688"/>
            <a:ext cx="2606040" cy="164592"/>
          </a:xfrm>
          <a:prstGeom prst="rect">
            <a:avLst/>
          </a:prstGeom>
          <a:solidFill>
            <a:srgbClr val="C810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328416" y="1133856"/>
            <a:ext cx="2514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539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2.29 / 5.0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3328416" y="1609344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Star Rating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227064" y="932688"/>
            <a:ext cx="26060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227064" y="932688"/>
            <a:ext cx="2606040" cy="164592"/>
          </a:xfrm>
          <a:prstGeom prst="rect">
            <a:avLst/>
          </a:prstGeom>
          <a:solidFill>
            <a:srgbClr val="C810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272784" y="1133856"/>
            <a:ext cx="2514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539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64%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6272784" y="1609344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Negative Sentiment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9171432" y="932688"/>
            <a:ext cx="260604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9171432" y="932688"/>
            <a:ext cx="2606040" cy="164592"/>
          </a:xfrm>
          <a:prstGeom prst="rect">
            <a:avLst/>
          </a:prstGeom>
          <a:solidFill>
            <a:srgbClr val="C810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9217152" y="1133856"/>
            <a:ext cx="2514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Years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9217152" y="1609344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Coverage</a:t>
            </a:r>
            <a:endParaRPr lang="en-US" sz="950" dirty="0"/>
          </a:p>
        </p:txBody>
      </p:sp>
      <p:pic>
        <p:nvPicPr>
          <p:cNvPr id="21" name="Image 0" descr="C:/Users/MuthukumaranP/OneDrive - 4i Apps Solutions Pvt Ltd/Python/RoyalEnfield/outputs/charts/01_rating_distrib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2084832"/>
            <a:ext cx="5623560" cy="3429000"/>
          </a:xfrm>
          <a:prstGeom prst="rect">
            <a:avLst/>
          </a:prstGeom>
        </p:spPr>
      </p:pic>
      <p:pic>
        <p:nvPicPr>
          <p:cNvPr id="22" name="Image 1" descr="C:/Users/MuthukumaranP/OneDrive - 4i Apps Solutions Pvt Ltd/Python/RoyalEnfield/outputs/charts/02_monthly_tren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2084832"/>
            <a:ext cx="5623560" cy="3429000"/>
          </a:xfrm>
          <a:prstGeom prst="rect">
            <a:avLst/>
          </a:prstGeom>
        </p:spPr>
      </p:pic>
      <p:sp>
        <p:nvSpPr>
          <p:cNvPr id="23" name="Shape 19"/>
          <p:cNvSpPr/>
          <p:nvPr/>
        </p:nvSpPr>
        <p:spPr>
          <a:xfrm>
            <a:off x="320040" y="5577840"/>
            <a:ext cx="11521440" cy="1042416"/>
          </a:xfrm>
          <a:prstGeom prst="rect">
            <a:avLst/>
          </a:prstGeom>
          <a:solidFill>
            <a:srgbClr val="FFF8E1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0"/>
          <p:cNvSpPr/>
          <p:nvPr/>
        </p:nvSpPr>
        <p:spPr>
          <a:xfrm>
            <a:off x="320040" y="5577840"/>
            <a:ext cx="128016" cy="1042416"/>
          </a:xfrm>
          <a:prstGeom prst="rect">
            <a:avLst/>
          </a:prstGeom>
          <a:solidFill>
            <a:srgbClr val="D4A0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1"/>
          <p:cNvSpPr/>
          <p:nvPr/>
        </p:nvSpPr>
        <p:spPr>
          <a:xfrm>
            <a:off x="521208" y="5632704"/>
            <a:ext cx="1117396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a 2.29 average rating and 1-star reviews at 53.9%, this isn't a vocal minority — it's sustained frustration spanning 4 years of app updates. The monthly trend chart (right) shows the rating has rarely crossed 3★ for any sustained period, and review volume spikes after major releases — suggesting updates are actively triggering new complaints rather than resolving existing ones. This is a systemic signal, not a temporary dip.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04672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01168" cy="804672"/>
          </a:xfrm>
          <a:prstGeom prst="rect">
            <a:avLst/>
          </a:prstGeom>
          <a:solidFill>
            <a:srgbClr val="C810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54864"/>
            <a:ext cx="116128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Intent Analysis — L1 Topics &amp; L2 Business Impact</a:t>
            </a:r>
            <a:endParaRPr lang="en-US" sz="2200" dirty="0"/>
          </a:p>
        </p:txBody>
      </p:sp>
      <p:pic>
        <p:nvPicPr>
          <p:cNvPr id="5" name="Image 0" descr="C:/Users/MuthukumaranP/OneDrive - 4i Apps Solutions Pvt Ltd/Python/RoyalEnfield/outputs/charts/03_l1_intent_distrib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914400"/>
            <a:ext cx="5577840" cy="3246120"/>
          </a:xfrm>
          <a:prstGeom prst="rect">
            <a:avLst/>
          </a:prstGeom>
        </p:spPr>
      </p:pic>
      <p:pic>
        <p:nvPicPr>
          <p:cNvPr id="6" name="Image 1" descr="C:/Users/MuthukumaranP/OneDrive - 4i Apps Solutions Pvt Ltd/Python/RoyalEnfield/outputs/charts/04_l2_business_impac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914400"/>
            <a:ext cx="5669280" cy="3246120"/>
          </a:xfrm>
          <a:prstGeom prst="rect">
            <a:avLst/>
          </a:prstGeom>
        </p:spPr>
      </p:pic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4187952"/>
          <a:ext cx="11521440" cy="1691640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83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L1 Topic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Negative 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L2 Business Impact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Severity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Performance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E539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User Retention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CRITICAL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39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Bugs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E539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User Retention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CRITICAL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393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Customer Support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E65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Brand Trust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51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Features (Strength)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2E7D3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Engagement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OPPORTUNITY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8E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Shape 3"/>
          <p:cNvSpPr/>
          <p:nvPr/>
        </p:nvSpPr>
        <p:spPr>
          <a:xfrm>
            <a:off x="320040" y="5788152"/>
            <a:ext cx="5669280" cy="914400"/>
          </a:xfrm>
          <a:prstGeom prst="rect">
            <a:avLst/>
          </a:prstGeom>
          <a:solidFill>
            <a:srgbClr val="FFF8E1"/>
          </a:solidFill>
          <a:ln w="12700">
            <a:solidFill>
              <a:srgbClr val="D4A0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4"/>
          <p:cNvSpPr/>
          <p:nvPr/>
        </p:nvSpPr>
        <p:spPr>
          <a:xfrm>
            <a:off x="320040" y="5788152"/>
            <a:ext cx="128016" cy="914400"/>
          </a:xfrm>
          <a:prstGeom prst="rect">
            <a:avLst/>
          </a:prstGeom>
          <a:solidFill>
            <a:srgbClr val="D4A0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5"/>
          <p:cNvSpPr/>
          <p:nvPr/>
        </p:nvSpPr>
        <p:spPr>
          <a:xfrm>
            <a:off x="521208" y="5843016"/>
            <a:ext cx="53949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Pain: Performance (79% neg) + Bugs (76% neg) together account for 35.9% of all reviews — and it's the same complaints (buffering, login failures, firmware sync errors) repeating across multiple app versions. This is a systemic engineering issue, not a one-off regression. Direct churn risk.</a:t>
            </a:r>
            <a:endParaRPr lang="en-US" sz="950" dirty="0"/>
          </a:p>
        </p:txBody>
      </p:sp>
      <p:sp>
        <p:nvSpPr>
          <p:cNvPr id="11" name="Shape 6"/>
          <p:cNvSpPr/>
          <p:nvPr/>
        </p:nvSpPr>
        <p:spPr>
          <a:xfrm>
            <a:off x="6172200" y="5788152"/>
            <a:ext cx="5669280" cy="914400"/>
          </a:xfrm>
          <a:prstGeom prst="rect">
            <a:avLst/>
          </a:prstGeom>
          <a:solidFill>
            <a:srgbClr val="F1F8E9"/>
          </a:solidFill>
          <a:ln w="12700">
            <a:solidFill>
              <a:srgbClr val="66BB6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7"/>
          <p:cNvSpPr/>
          <p:nvPr/>
        </p:nvSpPr>
        <p:spPr>
          <a:xfrm>
            <a:off x="6172200" y="5788152"/>
            <a:ext cx="128016" cy="914400"/>
          </a:xfrm>
          <a:prstGeom prst="rect">
            <a:avLst/>
          </a:prstGeom>
          <a:solidFill>
            <a:srgbClr val="43A0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8"/>
          <p:cNvSpPr/>
          <p:nvPr/>
        </p:nvSpPr>
        <p:spPr>
          <a:xfrm>
            <a:off x="6373368" y="5843016"/>
            <a:ext cx="53949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Strength: 26.6% of users (4-5★) explicitly cite the bike configurator, service booking concept, and the RE community — proving the core product idea resonates when it actually works. That's a retention asset worth protecting while the fundamentals get fixed.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04672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01168" cy="804672"/>
          </a:xfrm>
          <a:prstGeom prst="rect">
            <a:avLst/>
          </a:prstGeom>
          <a:solidFill>
            <a:srgbClr val="C810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54864"/>
            <a:ext cx="116128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Issue Prioritization — What to Fix First</a:t>
            </a:r>
            <a:endParaRPr lang="en-US" sz="2200" dirty="0"/>
          </a:p>
        </p:txBody>
      </p:sp>
      <p:pic>
        <p:nvPicPr>
          <p:cNvPr id="5" name="Image 0" descr="C:/Users/MuthukumaranP/OneDrive - 4i Apps Solutions Pvt Ltd/Python/RoyalEnfield/outputs/charts/06_priority_matri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2580" y="841248"/>
            <a:ext cx="7115992" cy="2651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20040" y="3566160"/>
            <a:ext cx="11521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latin typeface="Arial" pitchFamily="34" charset="0"/>
                <a:ea typeface="Arial" pitchFamily="34" charset="-122"/>
                <a:cs typeface="Arial" pitchFamily="34" charset="-120"/>
              </a:rPr>
              <a:t>Priority score = Frequency% × 0.6 + Impact × 0.4 — mirrors RICE scoring used in product management. A crash affecting 18.6% of users at avg 1.70★ outranks a UI complaint at 6% with 2.03★, even if both are negative. Bubble size reflects review count; anything top-left needs immediate attention.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320040" y="3913632"/>
            <a:ext cx="5943600" cy="292608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393192" y="3931920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PAIN POINTS (by Priority Score)</a:t>
            </a:r>
            <a:endParaRPr lang="en-US" sz="10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4242816"/>
          <a:ext cx="5943600" cy="2304288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Topic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Frequency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Avg Rating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L2 Impact</a:t>
                      </a:r>
                      <a:endParaRPr lang="en-US" sz="950" dirty="0"/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Performance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18.6%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E539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1.70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User Retention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Bugs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17.3%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E539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1.83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User Retention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Customer Support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11.7%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E539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2.39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Brand Trust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Billing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5.6%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E539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1.65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Revenue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Security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4.5%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E5393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1.79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Brand Trust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6400800" y="3913632"/>
            <a:ext cx="5440680" cy="292608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7"/>
          <p:cNvSpPr/>
          <p:nvPr/>
        </p:nvSpPr>
        <p:spPr>
          <a:xfrm>
            <a:off x="6473952" y="3931920"/>
            <a:ext cx="5349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VERBATIM USER FEEDBACK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6400800" y="4242816"/>
            <a:ext cx="5440680" cy="713232"/>
          </a:xfrm>
          <a:prstGeom prst="rect">
            <a:avLst/>
          </a:prstGeom>
          <a:solidFill>
            <a:srgbClr val="FFF5F5"/>
          </a:solidFill>
          <a:ln w="12700">
            <a:solidFill>
              <a:srgbClr val="F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9"/>
          <p:cNvSpPr/>
          <p:nvPr/>
        </p:nvSpPr>
        <p:spPr>
          <a:xfrm>
            <a:off x="6400800" y="4242816"/>
            <a:ext cx="54864" cy="713232"/>
          </a:xfrm>
          <a:prstGeom prst="rect">
            <a:avLst/>
          </a:prstGeom>
          <a:solidFill>
            <a:srgbClr val="E5393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0"/>
          <p:cNvSpPr/>
          <p:nvPr/>
        </p:nvSpPr>
        <p:spPr>
          <a:xfrm>
            <a:off x="6492240" y="429768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539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1*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6492240" y="4535424"/>
            <a:ext cx="5257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"Third class app! I'm never able to book service through ur app. It just keeps buffering."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6400800" y="5047488"/>
            <a:ext cx="5440680" cy="713232"/>
          </a:xfrm>
          <a:prstGeom prst="rect">
            <a:avLst/>
          </a:prstGeom>
          <a:solidFill>
            <a:srgbClr val="FFF5F5"/>
          </a:solidFill>
          <a:ln w="12700">
            <a:solidFill>
              <a:srgbClr val="F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6400800" y="5047488"/>
            <a:ext cx="54864" cy="713232"/>
          </a:xfrm>
          <a:prstGeom prst="rect">
            <a:avLst/>
          </a:prstGeom>
          <a:solidFill>
            <a:srgbClr val="E5393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4"/>
          <p:cNvSpPr/>
          <p:nvPr/>
        </p:nvSpPr>
        <p:spPr>
          <a:xfrm>
            <a:off x="6492240" y="510235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539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1*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6492240" y="5340096"/>
            <a:ext cx="5257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"Unauthorised changing of the slot time by showroom people. No use of app when service centres can change it."</a:t>
            </a:r>
            <a:endParaRPr lang="en-US" sz="900" dirty="0"/>
          </a:p>
        </p:txBody>
      </p:sp>
      <p:sp>
        <p:nvSpPr>
          <p:cNvPr id="20" name="Shape 16"/>
          <p:cNvSpPr/>
          <p:nvPr/>
        </p:nvSpPr>
        <p:spPr>
          <a:xfrm>
            <a:off x="6400800" y="5852160"/>
            <a:ext cx="5440680" cy="713232"/>
          </a:xfrm>
          <a:prstGeom prst="rect">
            <a:avLst/>
          </a:prstGeom>
          <a:solidFill>
            <a:srgbClr val="FFF5F5"/>
          </a:solidFill>
          <a:ln w="12700">
            <a:solidFill>
              <a:srgbClr val="FFCD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7"/>
          <p:cNvSpPr/>
          <p:nvPr/>
        </p:nvSpPr>
        <p:spPr>
          <a:xfrm>
            <a:off x="6400800" y="5852160"/>
            <a:ext cx="54864" cy="713232"/>
          </a:xfrm>
          <a:prstGeom prst="rect">
            <a:avLst/>
          </a:prstGeom>
          <a:solidFill>
            <a:srgbClr val="E5393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8"/>
          <p:cNvSpPr/>
          <p:nvPr/>
        </p:nvSpPr>
        <p:spPr>
          <a:xfrm>
            <a:off x="6492240" y="590702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539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1*</a:t>
            </a:r>
            <a:endParaRPr lang="en-US" sz="1100" dirty="0"/>
          </a:p>
        </p:txBody>
      </p:sp>
      <p:sp>
        <p:nvSpPr>
          <p:cNvPr id="23" name="Text 19"/>
          <p:cNvSpPr/>
          <p:nvPr/>
        </p:nvSpPr>
        <p:spPr>
          <a:xfrm>
            <a:off x="6492240" y="6144768"/>
            <a:ext cx="5257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"One of the worst app ever used. It always fails to fetch the latest firmware details."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22960"/>
          </a:xfrm>
          <a:prstGeom prst="rect">
            <a:avLst/>
          </a:prstGeom>
          <a:solidFill>
            <a:srgbClr val="C810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D4A0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28600" y="73152"/>
            <a:ext cx="117043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Actionable Recommendations &amp; Production Architecture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896112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DATA-DRIVEN RECOMMENDATIONS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11480" y="1298448"/>
            <a:ext cx="5577840" cy="1115568"/>
          </a:xfrm>
          <a:prstGeom prst="rect">
            <a:avLst/>
          </a:prstGeom>
          <a:solidFill>
            <a:srgbClr val="1E1E1E"/>
          </a:solidFill>
          <a:ln w="12700">
            <a:solidFill>
              <a:srgbClr val="E539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11480" y="1298448"/>
            <a:ext cx="658368" cy="1115568"/>
          </a:xfrm>
          <a:prstGeom prst="rect">
            <a:avLst/>
          </a:prstGeom>
          <a:solidFill>
            <a:srgbClr val="E5393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11480" y="1426464"/>
            <a:ext cx="6583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P0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11480" y="1828800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EEEE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Immediate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152144" y="1389888"/>
            <a:ext cx="473659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 app crashes, login failures &amp; buffering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Affects 18.6% of users (474 reviews)  |  Avg 1.70*  |  Impact: User Retention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11480" y="2560320"/>
            <a:ext cx="5577840" cy="1115568"/>
          </a:xfrm>
          <a:prstGeom prst="rect">
            <a:avLst/>
          </a:prstGeom>
          <a:solidFill>
            <a:srgbClr val="1E1E1E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11480" y="2560320"/>
            <a:ext cx="658368" cy="1115568"/>
          </a:xfrm>
          <a:prstGeom prst="rect">
            <a:avLst/>
          </a:prstGeom>
          <a:solidFill>
            <a:srgbClr val="E651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11480" y="2688336"/>
            <a:ext cx="6583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11480" y="3090672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EEEE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Weeks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152144" y="2651760"/>
            <a:ext cx="473659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 bugs: firmware sync, OTP, session timeouts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Bugs = 17.3% of reviews (441), avg 1.83*  |  Impact: User Retention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11480" y="3822192"/>
            <a:ext cx="5577840" cy="1115568"/>
          </a:xfrm>
          <a:prstGeom prst="rect">
            <a:avLst/>
          </a:prstGeom>
          <a:solidFill>
            <a:srgbClr val="1E1E1E"/>
          </a:solidFill>
          <a:ln w="12700">
            <a:solidFill>
              <a:srgbClr val="F57F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11480" y="3822192"/>
            <a:ext cx="658368" cy="1115568"/>
          </a:xfrm>
          <a:prstGeom prst="rect">
            <a:avLst/>
          </a:prstGeom>
          <a:solidFill>
            <a:srgbClr val="F57F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11480" y="3950208"/>
            <a:ext cx="6583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11480" y="4352544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EEEE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Backlog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152144" y="3913632"/>
            <a:ext cx="473659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in-app complaint tracker &amp; improve support SLA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Support: 11.7% (297 reviews), 63% negative  |  Brand Trust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11480" y="5084064"/>
            <a:ext cx="5577840" cy="1115568"/>
          </a:xfrm>
          <a:prstGeom prst="rect">
            <a:avLst/>
          </a:prstGeom>
          <a:solidFill>
            <a:srgbClr val="1E1E1E"/>
          </a:solidFill>
          <a:ln w="12700">
            <a:solidFill>
              <a:srgbClr val="388E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11480" y="5084064"/>
            <a:ext cx="658368" cy="1115568"/>
          </a:xfrm>
          <a:prstGeom prst="rect">
            <a:avLst/>
          </a:prstGeom>
          <a:solidFill>
            <a:srgbClr val="388E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11480" y="5212080"/>
            <a:ext cx="6583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P3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11480" y="5614416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EEEE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152144" y="5175504"/>
            <a:ext cx="473659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Enhance configurator, trip tools &amp; community features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Features: 9.0% of reviews, avg 2.32*  |  Engagement opportunity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446520" y="896112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SCALING TO PRODUCTION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446520" y="1298448"/>
            <a:ext cx="5394960" cy="1481328"/>
          </a:xfrm>
          <a:prstGeom prst="rect">
            <a:avLst/>
          </a:prstGeom>
          <a:solidFill>
            <a:srgbClr val="1A1A1A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6446520" y="1298448"/>
            <a:ext cx="1234440" cy="1481328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446520" y="1435608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446520" y="1810512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1-2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772400" y="1344168"/>
            <a:ext cx="3977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Infrastructure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772400" y="1682496"/>
            <a:ext cx="39776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Airflow DAG for daily scraping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storage (S3/GCS) + multi-region support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validation &amp; deduplication pipeline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446520" y="2944368"/>
            <a:ext cx="5394960" cy="1481328"/>
          </a:xfrm>
          <a:prstGeom prst="rect">
            <a:avLst/>
          </a:prstGeom>
          <a:solidFill>
            <a:srgbClr val="1A1A1A"/>
          </a:solidFill>
          <a:ln w="12700">
            <a:solidFill>
              <a:srgbClr val="6A1B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6446520" y="2944368"/>
            <a:ext cx="1234440" cy="1481328"/>
          </a:xfrm>
          <a:prstGeom prst="rect">
            <a:avLst/>
          </a:prstGeom>
          <a:solidFill>
            <a:srgbClr val="6A1B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446520" y="3081528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446520" y="3456432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3-4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7772400" y="2990088"/>
            <a:ext cx="3977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Upgrade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7772400" y="3328416"/>
            <a:ext cx="39776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Fine-tune DistilBERT for L1/L2 classification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90%+ accuracy (vs 75% keyword baseline)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CPU-deployable model serving via FastAPI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446520" y="4590288"/>
            <a:ext cx="5394960" cy="1481328"/>
          </a:xfrm>
          <a:prstGeom prst="rect">
            <a:avLst/>
          </a:prstGeom>
          <a:solidFill>
            <a:srgbClr val="1A1A1A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6446520" y="4590288"/>
            <a:ext cx="1234440" cy="1481328"/>
          </a:xfrm>
          <a:prstGeom prst="rect">
            <a:avLst/>
          </a:prstGeom>
          <a:solidFill>
            <a:srgbClr val="2E7D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6446520" y="4727448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6446520" y="5102352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5-8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7772400" y="4636008"/>
            <a:ext cx="3977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Insights Platform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7772400" y="4974336"/>
            <a:ext cx="39776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Streamlit / Superset dashboard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Slack/email alerts on P0 review spikes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 feedback loop &amp; roadmap integration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0" y="6400800"/>
            <a:ext cx="12161520" cy="438912"/>
          </a:xfrm>
          <a:prstGeom prst="rect">
            <a:avLst/>
          </a:prstGeom>
          <a:solidFill>
            <a:srgbClr val="0D0D0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0" y="6400800"/>
            <a:ext cx="12161520" cy="36576"/>
          </a:xfrm>
          <a:prstGeom prst="rect">
            <a:avLst/>
          </a:prstGeom>
          <a:solidFill>
            <a:srgbClr val="D4A0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274320" y="6455664"/>
            <a:ext cx="11612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These recommendations aren't speculative — the P0 items (crashes, booking failures) directly address the single most-cited complaints across 2,543 reviews. The 3-phase roadmap upgrades this keyword POC (~75% accuracy) into a real-time monitoring system, so product teams catch P0 spikes before they surface as a visible rating drop on the Play Store.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C810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6784848"/>
            <a:ext cx="12161520" cy="73152"/>
          </a:xfrm>
          <a:prstGeom prst="rect">
            <a:avLst/>
          </a:prstGeom>
          <a:solidFill>
            <a:srgbClr val="D4A0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411480"/>
            <a:ext cx="11247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Source Code &amp; Dataset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457200" y="1115568"/>
            <a:ext cx="11247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pipeline — from web scraping to prioritised recommendations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794760" y="1609344"/>
            <a:ext cx="4572000" cy="45720"/>
          </a:xfrm>
          <a:prstGeom prst="rect">
            <a:avLst/>
          </a:prstGeom>
          <a:solidFill>
            <a:srgbClr val="C810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371600" y="1920240"/>
            <a:ext cx="9418320" cy="1005840"/>
          </a:xfrm>
          <a:prstGeom prst="rect">
            <a:avLst/>
          </a:prstGeom>
          <a:solidFill>
            <a:srgbClr val="0D0D0D"/>
          </a:solidFill>
          <a:ln w="12700">
            <a:solidFill>
              <a:srgbClr val="D4A017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371600" y="1965960"/>
            <a:ext cx="9418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Repository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371600" y="2304288"/>
            <a:ext cx="9418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https://github.com/</a:t>
            </a:r>
            <a:r>
              <a:rPr lang="en-US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Muthukumaran2098</a:t>
            </a: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/royal-enfield-review-analysis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" y="3154680"/>
            <a:ext cx="11247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INSIDE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77240" y="3611880"/>
            <a:ext cx="5303520" cy="914400"/>
          </a:xfrm>
          <a:prstGeom prst="rect">
            <a:avLst/>
          </a:prstGeom>
          <a:solidFill>
            <a:srgbClr val="111111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914400" y="370332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📓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554480" y="3685032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Royal_Enfield_Review_Analysis.ipynb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554480" y="4014216"/>
            <a:ext cx="4389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notebook: scraping → NLP → visualisations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777240" y="4709160"/>
            <a:ext cx="5303520" cy="914400"/>
          </a:xfrm>
          <a:prstGeom prst="rect">
            <a:avLst/>
          </a:prstGeom>
          <a:solidFill>
            <a:srgbClr val="111111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14400" y="480060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📊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554480" y="4782312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reviews_raw.csv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554480" y="5111496"/>
            <a:ext cx="4389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2,543 real Play Store reviews (Jul 2022 – Apr 2026)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400800" y="3611880"/>
            <a:ext cx="5303520" cy="914400"/>
          </a:xfrm>
          <a:prstGeom prst="rect">
            <a:avLst/>
          </a:prstGeom>
          <a:solidFill>
            <a:srgbClr val="111111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537960" y="370332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🐍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7178040" y="3685032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Project/ (pipeline scripts)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178040" y="4014216"/>
            <a:ext cx="4389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classifier.py · analyzer.py · visualizations.py · main.py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400800" y="4709160"/>
            <a:ext cx="5303520" cy="914400"/>
          </a:xfrm>
          <a:prstGeom prst="rect">
            <a:avLst/>
          </a:prstGeom>
          <a:solidFill>
            <a:srgbClr val="111111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537960" y="480060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📈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7178040" y="4782312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outputs/charts/  &amp;  .pptx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178040" y="5111496"/>
            <a:ext cx="4389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publication-ready charts + this presentation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57200" y="61722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-r requirements.txt  →  python main.py  →  All analysis reproduced in minutes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1125</Words>
  <Application>Microsoft Office PowerPoint</Application>
  <PresentationFormat>Widescreen</PresentationFormat>
  <Paragraphs>158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Arial Black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Royal Enfield App Review Analysis</dc:title>
  <dc:subject>PptxGenJS Presentation</dc:subject>
  <dc:creator>Data Science Assignment</dc:creator>
  <cp:lastModifiedBy>Muthukumaran P @ 4i</cp:lastModifiedBy>
  <cp:revision>2</cp:revision>
  <dcterms:created xsi:type="dcterms:W3CDTF">2026-04-07T10:57:07Z</dcterms:created>
  <dcterms:modified xsi:type="dcterms:W3CDTF">2026-04-07T11:19:16Z</dcterms:modified>
</cp:coreProperties>
</file>