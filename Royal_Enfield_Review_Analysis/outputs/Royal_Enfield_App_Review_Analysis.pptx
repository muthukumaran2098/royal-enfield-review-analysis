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311939-339C-43AA-A108-1F8163A7C87D}" v="60" dt="2026-04-07T12:13:20.4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thukumaran P @ 4i" userId="d115ef4f-9210-40e8-8b7c-248cb41229ac" providerId="ADAL" clId="{B42F7210-19DA-46E6-9A45-39B2C33267D7}"/>
    <pc:docChg chg="undo custSel addSld delSld modSld sldOrd">
      <pc:chgData name="Muthukumaran P @ 4i" userId="d115ef4f-9210-40e8-8b7c-248cb41229ac" providerId="ADAL" clId="{B42F7210-19DA-46E6-9A45-39B2C33267D7}" dt="2026-04-07T12:13:44.357" v="250" actId="27107"/>
      <pc:docMkLst>
        <pc:docMk/>
      </pc:docMkLst>
      <pc:sldChg chg="modSp mod">
        <pc:chgData name="Muthukumaran P @ 4i" userId="d115ef4f-9210-40e8-8b7c-248cb41229ac" providerId="ADAL" clId="{B42F7210-19DA-46E6-9A45-39B2C33267D7}" dt="2026-04-07T12:08:32.525" v="230" actId="20577"/>
        <pc:sldMkLst>
          <pc:docMk/>
          <pc:sldMk cId="0" sldId="256"/>
        </pc:sldMkLst>
        <pc:spChg chg="mod">
          <ac:chgData name="Muthukumaran P @ 4i" userId="d115ef4f-9210-40e8-8b7c-248cb41229ac" providerId="ADAL" clId="{B42F7210-19DA-46E6-9A45-39B2C33267D7}" dt="2026-04-07T12:04:43.681" v="193" actId="255"/>
          <ac:spMkLst>
            <pc:docMk/>
            <pc:sldMk cId="0" sldId="256"/>
            <ac:spMk id="9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5:06.892" v="198" actId="1035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5:01.648" v="197" actId="103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55.547" v="146" actId="103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55.547" v="146" actId="103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55.547" v="146" actId="103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55.547" v="146" actId="103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55.547" v="146" actId="103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55.547" v="146" actId="103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46.381" v="119" actId="103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46.381" v="119" actId="1036"/>
          <ac:spMkLst>
            <pc:docMk/>
            <pc:sldMk cId="0" sldId="256"/>
            <ac:spMk id="19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46.381" v="119" actId="103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46.381" v="119" actId="1036"/>
          <ac:spMkLst>
            <pc:docMk/>
            <pc:sldMk cId="0" sldId="256"/>
            <ac:spMk id="21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3:13.431" v="97"/>
          <ac:spMkLst>
            <pc:docMk/>
            <pc:sldMk cId="0" sldId="256"/>
            <ac:spMk id="28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6:47.180" v="215" actId="14100"/>
          <ac:spMkLst>
            <pc:docMk/>
            <pc:sldMk cId="0" sldId="256"/>
            <ac:spMk id="32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7:37.810" v="217"/>
          <ac:spMkLst>
            <pc:docMk/>
            <pc:sldMk cId="0" sldId="256"/>
            <ac:spMk id="36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08:32.525" v="230" actId="20577"/>
          <ac:spMkLst>
            <pc:docMk/>
            <pc:sldMk cId="0" sldId="256"/>
            <ac:spMk id="40" creationId="{00000000-0000-0000-0000-000000000000}"/>
          </ac:spMkLst>
        </pc:spChg>
      </pc:sldChg>
      <pc:sldChg chg="modSp mod">
        <pc:chgData name="Muthukumaran P @ 4i" userId="d115ef4f-9210-40e8-8b7c-248cb41229ac" providerId="ADAL" clId="{B42F7210-19DA-46E6-9A45-39B2C33267D7}" dt="2026-04-07T12:13:44.357" v="250" actId="27107"/>
        <pc:sldMkLst>
          <pc:docMk/>
          <pc:sldMk cId="0" sldId="260"/>
        </pc:sldMkLst>
        <pc:spChg chg="mod">
          <ac:chgData name="Muthukumaran P @ 4i" userId="d115ef4f-9210-40e8-8b7c-248cb41229ac" providerId="ADAL" clId="{B42F7210-19DA-46E6-9A45-39B2C33267D7}" dt="2026-04-07T12:10:50.940" v="234" actId="2057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11:43.381" v="240" actId="2057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12:49.690" v="244" actId="2057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2:13:44.357" v="250" actId="27107"/>
          <ac:spMkLst>
            <pc:docMk/>
            <pc:sldMk cId="0" sldId="260"/>
            <ac:spMk id="25" creationId="{00000000-0000-0000-0000-000000000000}"/>
          </ac:spMkLst>
        </pc:spChg>
      </pc:sldChg>
      <pc:sldChg chg="modSp add del mod ord setBg">
        <pc:chgData name="Muthukumaran P @ 4i" userId="d115ef4f-9210-40e8-8b7c-248cb41229ac" providerId="ADAL" clId="{B42F7210-19DA-46E6-9A45-39B2C33267D7}" dt="2026-04-07T11:51:07.304" v="26" actId="1035"/>
        <pc:sldMkLst>
          <pc:docMk/>
          <pc:sldMk cId="0" sldId="262"/>
        </pc:sldMkLst>
        <pc:spChg chg="mod">
          <ac:chgData name="Muthukumaran P @ 4i" userId="d115ef4f-9210-40e8-8b7c-248cb41229ac" providerId="ADAL" clId="{B42F7210-19DA-46E6-9A45-39B2C33267D7}" dt="2026-04-07T11:51:01.210" v="22" actId="14100"/>
          <ac:spMkLst>
            <pc:docMk/>
            <pc:sldMk cId="0" sldId="262"/>
            <ac:spMk id="11" creationId="{00000000-0000-0000-0000-000000000000}"/>
          </ac:spMkLst>
        </pc:spChg>
        <pc:spChg chg="mod">
          <ac:chgData name="Muthukumaran P @ 4i" userId="d115ef4f-9210-40e8-8b7c-248cb41229ac" providerId="ADAL" clId="{B42F7210-19DA-46E6-9A45-39B2C33267D7}" dt="2026-04-07T11:51:07.304" v="26" actId="1035"/>
          <ac:spMkLst>
            <pc:docMk/>
            <pc:sldMk cId="0" sldId="262"/>
            <ac:spMk id="12" creationId="{00000000-0000-0000-0000-000000000000}"/>
          </ac:spMkLst>
        </pc:spChg>
      </pc:sldChg>
      <pc:sldChg chg="new del">
        <pc:chgData name="Muthukumaran P @ 4i" userId="d115ef4f-9210-40e8-8b7c-248cb41229ac" providerId="ADAL" clId="{B42F7210-19DA-46E6-9A45-39B2C33267D7}" dt="2026-04-07T11:50:05.514" v="11" actId="47"/>
        <pc:sldMkLst>
          <pc:docMk/>
          <pc:sldMk cId="1257748009" sldId="262"/>
        </pc:sldMkLst>
      </pc:sldChg>
      <pc:sldChg chg="add del setBg">
        <pc:chgData name="Muthukumaran P @ 4i" userId="d115ef4f-9210-40e8-8b7c-248cb41229ac" providerId="ADAL" clId="{B42F7210-19DA-46E6-9A45-39B2C33267D7}" dt="2026-04-07T11:50:02.561" v="10"/>
        <pc:sldMkLst>
          <pc:docMk/>
          <pc:sldMk cId="0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5986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61520" cy="73152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69166" y="4544008"/>
            <a:ext cx="44646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500" normalizeH="0" baseline="0" noProof="0" dirty="0">
                <a:ln>
                  <a:noFill/>
                </a:ln>
                <a:solidFill>
                  <a:srgbClr val="C8102E"/>
                </a:solidFill>
                <a:effectLst/>
                <a:uLnTx/>
                <a:uFillTx/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ROYAL  ENFIELD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" y="50833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Since 1901  ·  Pure Motorcycling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166360" y="411480"/>
            <a:ext cx="36576" cy="6035040"/>
          </a:xfrm>
          <a:prstGeom prst="rect">
            <a:avLst/>
          </a:prstGeom>
          <a:solidFill>
            <a:srgbClr val="2E2E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394960" y="502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0" cap="none" spc="20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DATA SCIENCE  ·  TECHNICAL ASSIGNMENT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94960" y="8229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A017"/>
                </a:solidFill>
                <a:effectLst/>
                <a:uLnTx/>
                <a:uFillTx/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Royal Enfield App Review Analysis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394960" y="1417320"/>
            <a:ext cx="6492240" cy="457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394960" y="15087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77777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L1/L2 User Intent Analysis  ·  NLP Pipeline  ·  2,543 Reviews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94960" y="1938528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Muthukumaran P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394960" y="2761488"/>
            <a:ext cx="2286000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394960" y="27614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Data Scientist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94960" y="3310128"/>
            <a:ext cx="6492240" cy="18288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394960" y="3438144"/>
            <a:ext cx="402336" cy="40233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94960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888736" y="3456432"/>
            <a:ext cx="5989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muthuwr1998@gmail.com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394960" y="4096512"/>
            <a:ext cx="402336" cy="40233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394960" y="4096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888736" y="4114800"/>
            <a:ext cx="5989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+91  80562  15416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394960" y="4754880"/>
            <a:ext cx="402336" cy="40233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39496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888736" y="4773168"/>
            <a:ext cx="5989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github.com/Muthukumaran2098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394960" y="5413248"/>
            <a:ext cx="402336" cy="40233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39496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888736" y="5431536"/>
            <a:ext cx="5989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linkedin.com/in/muthukumaran98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394960" y="6492240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April 2026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FB94A31-9AD8-6F7D-2637-2433D84AC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903" y="975236"/>
            <a:ext cx="3386833" cy="33868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9669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28600" y="91440"/>
            <a:ext cx="1170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 Enfield App Review Analysis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28600" y="685800"/>
            <a:ext cx="1170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User Intent through NLP  |  Data Science Technical Assignment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5394960" cy="5166360"/>
          </a:xfrm>
          <a:prstGeom prst="rect">
            <a:avLst/>
          </a:prstGeom>
          <a:solidFill>
            <a:srgbClr val="22222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5394960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21208" y="136245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" y="1856232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Context: </a:t>
            </a: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 Enfield's RE-Prime app has 2,500+ reviews spanning 4 years — users flagging crashes, OTP failures, and unresolved service complaints. At this volume, critical signals get buried in noise. No team can manually read, categorize, and prioritize this feedback at scale — a structured NLP pipeline is the only practical solution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85216" y="2676113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</a:t>
            </a:r>
            <a:r>
              <a:rPr lang="en-US" sz="115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Extracting structured L1 (topic) + L2 (business impact) intent from unstructured reviews — moving beyond star ratings to understand what users are frustrated about and why it matters to the business. The output is a prioritized, evidence-backed list that maps directly to engineering and product </a:t>
            </a: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decisions</a:t>
            </a:r>
          </a:p>
        </p:txBody>
      </p:sp>
      <p:sp>
        <p:nvSpPr>
          <p:cNvPr id="11" name="Text 9"/>
          <p:cNvSpPr/>
          <p:nvPr/>
        </p:nvSpPr>
        <p:spPr>
          <a:xfrm>
            <a:off x="576072" y="3442819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</a:t>
            </a: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Translating raw reviews into a data-driven, prioritised product roadmap — each issue scored P0 to P3 based on frequency and business impact. Product and engineering teams get a clear, ranked action list they can take straight into planning, without reading a single review manually.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76072" y="4294516"/>
            <a:ext cx="2331720" cy="685800"/>
          </a:xfrm>
          <a:prstGeom prst="rect">
            <a:avLst/>
          </a:prstGeom>
          <a:solidFill>
            <a:srgbClr val="1A3A4A"/>
          </a:solidFill>
          <a:ln w="1270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12648" y="43219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4B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Intent (What)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12648" y="456883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BDE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 Bugs  UI/UX  Support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BDE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 Billing  Features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063240" y="4294516"/>
            <a:ext cx="2560320" cy="685800"/>
          </a:xfrm>
          <a:prstGeom prst="rect">
            <a:avLst/>
          </a:prstGeom>
          <a:solidFill>
            <a:srgbClr val="1A3A2A"/>
          </a:solidFill>
          <a:ln w="1270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99816" y="432194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1C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Impact (Why it matters)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99816" y="45688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E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Retention  Brand Trust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8E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 Revenue  Roadmap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76072" y="5155538"/>
            <a:ext cx="5120640" cy="1078992"/>
          </a:xfrm>
          <a:prstGeom prst="rect">
            <a:avLst/>
          </a:prstGeom>
          <a:solidFill>
            <a:srgbClr val="1C1C1C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76072" y="5146207"/>
            <a:ext cx="5120640" cy="256032"/>
          </a:xfrm>
          <a:prstGeom prst="rect">
            <a:avLst/>
          </a:prstGeom>
          <a:solidFill>
            <a:srgbClr val="2A22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0936" y="5164495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" y="5438815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</a:t>
            </a: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English-language reviews, India Play Store (en_IN), sorted newest-first
</a:t>
            </a:r>
            <a:r>
              <a:rPr lang="en-US" sz="85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</a:t>
            </a: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reviews requested, 2,543 retained after dedup &amp; length filter
</a:t>
            </a:r>
            <a:r>
              <a:rPr lang="en-US" sz="85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</a:t>
            </a: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classifier chosen for POC — interpretable, fast, no GPU. Designed to upgrade to DistilBERT in production.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46520" y="1325880"/>
            <a:ext cx="5394960" cy="5166360"/>
          </a:xfrm>
          <a:prstGeom prst="rect">
            <a:avLst/>
          </a:prstGeom>
          <a:solidFill>
            <a:srgbClr val="222222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446520" y="1325880"/>
            <a:ext cx="5394960" cy="38404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56248" y="136245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APPROACH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11112" y="1828800"/>
            <a:ext cx="384048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1111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8660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86600" y="2121408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google-play-scraper — chosen for its reliable pagination via continuation tokens, built-in rate limiting to avoid Play Store throttling, and review-level deduplication to ensure clean, unique data. Targets India region specifically since RE-Prime's primary user base is domestic.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11112" y="2944368"/>
            <a:ext cx="384048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11112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086600" y="29443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86600" y="3255638"/>
            <a:ext cx="4617720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NLP assigns each review an L1 topic — chosen for its interpretability and zero infrastructure overhead, with the architecture designed to swap in a fine-tuned BERT model in production. L2 business impact is derived via rule mapping, translating topics directly into consequences the business cares about — retention, revenue, trust.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11112" y="4059936"/>
            <a:ext cx="384048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611112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40599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086600" y="435254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scored by Frequency (60%) + Impact (40%) — weighted because a problem affecting many users moderately outranks one affecting few users severely. Output maps directly to P0–P3 sprint priorities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11112" y="5175504"/>
            <a:ext cx="384048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611112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86600" y="51755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086600" y="546811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translated into concrete action items — each tied to real review volume, verbatim user quotes as evidence, and a clear timeline. Paired with a scaling roadmap that takes this POC to a production-grade, real-time monitoring pipeline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11480" y="1051560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sampling of reviews before building the classifier revealed a clear pattern: buffering service bookings, OTP failures, and unresolved complaints repeating across 4 years. This pipeline converts that signal into a data-driven, prioritised product roadmap.</a:t>
            </a:r>
            <a:endParaRPr lang="en-US" sz="850" dirty="0">
              <a:solidFill>
                <a:schemeClr val="bg2"/>
              </a:solidFill>
            </a:endParaRPr>
          </a:p>
        </p:txBody>
      </p:sp>
      <p:sp>
        <p:nvSpPr>
          <p:cNvPr id="42" name="Shape 40"/>
          <p:cNvSpPr/>
          <p:nvPr/>
        </p:nvSpPr>
        <p:spPr>
          <a:xfrm>
            <a:off x="0" y="6492240"/>
            <a:ext cx="12161520" cy="329184"/>
          </a:xfrm>
          <a:prstGeom prst="rect">
            <a:avLst/>
          </a:prstGeom>
          <a:solidFill>
            <a:srgbClr val="0D0D0D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28600" y="6510528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Stack:  google-play-scraper  &gt;  Keyword NLP (BERT-ready)  &gt;  pandas / numpy  &gt;  matplotlib / seaborn  &gt;  pptxgenjs</a:t>
            </a:r>
            <a:endParaRPr lang="en-US" sz="9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80467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54864"/>
            <a:ext cx="11612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Overview — 2,543 Real Reviews (Jul 2022 to Apr 2026)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8328" y="932688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38328" y="932688"/>
            <a:ext cx="2606040" cy="16459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4048" y="113385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2,543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160934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Reviews Scraped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82696" y="932688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82696" y="932688"/>
            <a:ext cx="2606040" cy="16459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28416" y="113385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 / 5.0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328416" y="160934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Star Rating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27064" y="932688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27064" y="932688"/>
            <a:ext cx="2606040" cy="16459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72784" y="113385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72784" y="160934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Sentiment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71432" y="932688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171432" y="932688"/>
            <a:ext cx="2606040" cy="16459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217152" y="113385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Years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217152" y="160934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Coverage</a:t>
            </a:r>
            <a:endParaRPr lang="en-US" sz="950" dirty="0"/>
          </a:p>
        </p:txBody>
      </p:sp>
      <p:pic>
        <p:nvPicPr>
          <p:cNvPr id="21" name="Image 0" descr="C:/Users/MuthukumaranP/OneDrive - 4i Apps Solutions Pvt Ltd/Python/RoyalEnfield/outputs/charts/01_rating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84832"/>
            <a:ext cx="5623560" cy="3429000"/>
          </a:xfrm>
          <a:prstGeom prst="rect">
            <a:avLst/>
          </a:prstGeom>
        </p:spPr>
      </p:pic>
      <p:pic>
        <p:nvPicPr>
          <p:cNvPr id="22" name="Image 1" descr="C:/Users/MuthukumaranP/OneDrive - 4i Apps Solutions Pvt Ltd/Python/RoyalEnfield/outputs/charts/02_monthly_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084832"/>
            <a:ext cx="5623560" cy="342900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320040" y="5577840"/>
            <a:ext cx="11521440" cy="1042416"/>
          </a:xfrm>
          <a:prstGeom prst="rect">
            <a:avLst/>
          </a:prstGeom>
          <a:solidFill>
            <a:srgbClr val="FFF8E1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320040" y="5577840"/>
            <a:ext cx="128016" cy="104241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521208" y="5632704"/>
            <a:ext cx="11173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2.29 average rating and 1-star reviews at 53.9%, this isn't a vocal minority — it's sustained frustration spanning 4 years of app updates. The monthly trend chart (right) shows the rating has rarely crossed 3★ for any sustained period, and review volume spikes after major releases — suggesting updates are actively triggering new complaints rather than resolving existing ones. This is a systemic signal, not a temporary dip.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80467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54864"/>
            <a:ext cx="11612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Intent Analysis — L1 Topics &amp; L2 Business Impact</a:t>
            </a:r>
            <a:endParaRPr lang="en-US" sz="2200" dirty="0"/>
          </a:p>
        </p:txBody>
      </p:sp>
      <p:pic>
        <p:nvPicPr>
          <p:cNvPr id="5" name="Image 0" descr="C:/Users/MuthukumaranP/OneDrive - 4i Apps Solutions Pvt Ltd/Python/RoyalEnfield/outputs/charts/03_l1_inten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14400"/>
            <a:ext cx="5577840" cy="3246120"/>
          </a:xfrm>
          <a:prstGeom prst="rect">
            <a:avLst/>
          </a:prstGeom>
        </p:spPr>
      </p:pic>
      <p:pic>
        <p:nvPicPr>
          <p:cNvPr id="6" name="Image 1" descr="C:/Users/MuthukumaranP/OneDrive - 4i Apps Solutions Pvt Ltd/Python/RoyalEnfield/outputs/charts/04_l2_business_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914400"/>
            <a:ext cx="5669280" cy="324612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187952"/>
          <a:ext cx="11521440" cy="169164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Topic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Negative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Business Impact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53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Retention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9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53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Retention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9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Support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65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Trust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Features (Strength)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Engagement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E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320040" y="5788152"/>
            <a:ext cx="5669280" cy="914400"/>
          </a:xfrm>
          <a:prstGeom prst="rect">
            <a:avLst/>
          </a:prstGeom>
          <a:solidFill>
            <a:srgbClr val="FFF8E1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320040" y="5788152"/>
            <a:ext cx="128016" cy="9144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521208" y="5843016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Pain: Performance (79% neg) + Bugs (76% neg) together account for 35.9% of all reviews — and it's the same complaints (buffering, login failures, firmware sync errors) repeating across multiple app versions. This is a systemic engineering issue, not a one-off regression. Direct churn risk.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6172200" y="5788152"/>
            <a:ext cx="5669280" cy="914400"/>
          </a:xfrm>
          <a:prstGeom prst="rect">
            <a:avLst/>
          </a:prstGeom>
          <a:solidFill>
            <a:srgbClr val="F1F8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172200" y="5788152"/>
            <a:ext cx="128016" cy="914400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6373368" y="5843016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26.6% of users (4-5★) explicitly cite the bike configurator, service booking concept, and the RE community — proving the core product idea resonates when it actually works. That's a retention asset worth protecting while the fundamentals get fixed.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80467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54864"/>
            <a:ext cx="11612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Prioritization — What to Fix First</a:t>
            </a:r>
            <a:endParaRPr lang="en-US" sz="2200" dirty="0"/>
          </a:p>
        </p:txBody>
      </p:sp>
      <p:pic>
        <p:nvPicPr>
          <p:cNvPr id="5" name="Image 0" descr="C:/Users/MuthukumaranP/OneDrive - 4i Apps Solutions Pvt Ltd/Python/RoyalEnfield/outputs/charts/06_priority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580" y="841248"/>
            <a:ext cx="7115992" cy="2651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356616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latin typeface="Arial" pitchFamily="34" charset="0"/>
                <a:ea typeface="Arial" pitchFamily="34" charset="-122"/>
                <a:cs typeface="Arial" pitchFamily="34" charset="-120"/>
              </a:rPr>
              <a:t>Priority score = Frequency% × 0.6 + Impact × 0.4 — mirrors RICE scoring used in product management. A crash affecting 18.6% of users at avg 1.70★ outranks a UI complaint at 6% with 2.03★, even if both are negative. Bubble size reflects review count; anything top-left needs immediate attention.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20040" y="3913632"/>
            <a:ext cx="5943600" cy="29260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93192" y="393192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PAIN POINTS (by Priority Score)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242816"/>
          <a:ext cx="5943600" cy="230428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Topic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Frequency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Avg Rating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L2 Impact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E53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Retention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E53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Retention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Support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E53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Billing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E53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E53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0" y="3913632"/>
            <a:ext cx="5440680" cy="29260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6473952" y="393192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USER FEEDBACK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4242816"/>
            <a:ext cx="5440680" cy="713232"/>
          </a:xfrm>
          <a:prstGeom prst="rect">
            <a:avLst/>
          </a:prstGeom>
          <a:solidFill>
            <a:srgbClr val="FFF5F5"/>
          </a:solidFill>
          <a:ln w="12700">
            <a:solidFill>
              <a:srgbClr val="F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6400800" y="4242816"/>
            <a:ext cx="54864" cy="713232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6492240" y="42976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92240" y="4535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"Third class app! I'm never able to book service through ur app. It just keeps buffering."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400800" y="5047488"/>
            <a:ext cx="5440680" cy="713232"/>
          </a:xfrm>
          <a:prstGeom prst="rect">
            <a:avLst/>
          </a:prstGeom>
          <a:solidFill>
            <a:srgbClr val="FFF5F5"/>
          </a:solidFill>
          <a:ln w="12700">
            <a:solidFill>
              <a:srgbClr val="F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0" y="5047488"/>
            <a:ext cx="54864" cy="713232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492240" y="51023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492240" y="5340096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"Unauthorised changing of the slot time by showroom people. No use of app when service centres can change it."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400800" y="5852160"/>
            <a:ext cx="5440680" cy="713232"/>
          </a:xfrm>
          <a:prstGeom prst="rect">
            <a:avLst/>
          </a:prstGeom>
          <a:solidFill>
            <a:srgbClr val="FFF5F5"/>
          </a:solidFill>
          <a:ln w="12700">
            <a:solidFill>
              <a:srgbClr val="F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400800" y="5852160"/>
            <a:ext cx="54864" cy="713232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6492240" y="590702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492240" y="614476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"One of the worst app ever used. It always fails to fetch the latest firmware details."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28600" y="73152"/>
            <a:ext cx="1170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Recommendations &amp; Production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89611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RECOMMENDATIONS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298448"/>
            <a:ext cx="5577840" cy="1115568"/>
          </a:xfrm>
          <a:prstGeom prst="rect">
            <a:avLst/>
          </a:prstGeom>
          <a:solidFill>
            <a:srgbClr val="1E1E1E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658368" cy="1115568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2646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52144" y="1389888"/>
            <a:ext cx="4736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fails at its most basic functions — users can't log in, book a service, or even open the app without crashing or buffering. Highest review volume, lowest average rating. Every day unfixed is a user lost.</a:t>
            </a:r>
          </a:p>
          <a:p>
            <a:pPr marL="0" indent="0">
              <a:buNone/>
            </a:pPr>
            <a:endParaRPr lang="en-US" sz="10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Affects 18.6% of users (474 reviews)  |  Avg 1.70*  |  Impact: User Retention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560320"/>
            <a:ext cx="5577840" cy="1115568"/>
          </a:xfrm>
          <a:prstGeom prst="rect">
            <a:avLst/>
          </a:prstGeom>
          <a:solidFill>
            <a:srgbClr val="1E1E1E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1480" y="2560320"/>
            <a:ext cx="658368" cy="1115568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688336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309067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Weeks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52144" y="2651760"/>
            <a:ext cx="4736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app workflows are broken — firmware updates fail to sync, OTPs don't arrive or expire before use, and sessions time out mid-action. Users are actively trying to engage with the app and being blocked at every step. Directly erodes trust and drives negative reviews.</a:t>
            </a:r>
          </a:p>
          <a:p>
            <a:pPr marL="0" indent="0">
              <a:buNone/>
            </a:pPr>
            <a:endParaRPr lang="en-US" sz="10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Bugs = 17.3% of reviews (441), avg 1.83*  |  Impact: User Retention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822192"/>
            <a:ext cx="5577840" cy="1115568"/>
          </a:xfrm>
          <a:prstGeom prst="rect">
            <a:avLst/>
          </a:prstGeom>
          <a:solidFill>
            <a:srgbClr val="1E1E1E"/>
          </a:solidFill>
          <a:ln w="1270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1480" y="3822192"/>
            <a:ext cx="658368" cy="1115568"/>
          </a:xfrm>
          <a:prstGeom prst="rect">
            <a:avLst/>
          </a:prstGeom>
          <a:solidFill>
            <a:srgbClr val="F57F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95020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" y="435254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Backlog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52144" y="3913632"/>
            <a:ext cx="4736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complain but hear nothing back — no ticket, no status, no resolution. The absence of an in-app complaint tracker means every support issue becomes a 1-star review. Improving support visibility directly reduces avoidable negative ratings and strengthens brand trust.</a:t>
            </a:r>
          </a:p>
          <a:p>
            <a:pPr marL="0" indent="0">
              <a:buNone/>
            </a:pPr>
            <a:endParaRPr lang="en-US" sz="10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Support: 11.7% (297 reviews), 63% negative  |  Brand Trust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5084064"/>
            <a:ext cx="5577840" cy="1115568"/>
          </a:xfrm>
          <a:prstGeom prst="rect">
            <a:avLst/>
          </a:prstGeom>
          <a:solidFill>
            <a:srgbClr val="1E1E1E"/>
          </a:solidFill>
          <a:ln w="1270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5084064"/>
            <a:ext cx="658368" cy="1115568"/>
          </a:xfrm>
          <a:prstGeom prst="rect">
            <a:avLst/>
          </a:prstGeom>
          <a:solidFill>
            <a:srgbClr val="388E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521208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" y="56144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52144" y="5175504"/>
            <a:ext cx="4736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bike configurator, trip planning, and community features are what loyal users actually love — cited positively across 4-5 star reviews. These aren't urgent fixes but active growth levers. Investing here converts satisfied users into advocates.</a:t>
            </a:r>
          </a:p>
          <a:p>
            <a:pPr marL="0" indent="0">
              <a:buNone/>
            </a:pPr>
            <a:endParaRPr lang="en-US" sz="10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9.0% of reviews, avg 2.32*  |  Engagement opportunity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46520" y="8961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TO PRODUCTION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1298448"/>
            <a:ext cx="5394960" cy="1481328"/>
          </a:xfrm>
          <a:prstGeom prst="rect">
            <a:avLst/>
          </a:prstGeom>
          <a:solidFill>
            <a:srgbClr val="1A1A1A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46520" y="1298448"/>
            <a:ext cx="1234440" cy="148132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46520" y="14356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18105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0" y="13441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Infrastructure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0" y="1682496"/>
            <a:ext cx="3977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Airflow DAG for daily scraping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 + multi-region support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validation &amp; deduplication pipeline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46520" y="2944368"/>
            <a:ext cx="5394960" cy="1481328"/>
          </a:xfrm>
          <a:prstGeom prst="rect">
            <a:avLst/>
          </a:prstGeom>
          <a:solidFill>
            <a:srgbClr val="1A1A1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46520" y="2944368"/>
            <a:ext cx="1234440" cy="1481328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46520" y="308152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46520" y="345643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3-4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72400" y="299008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Upgrade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772400" y="3328416"/>
            <a:ext cx="3977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DistilBERT for L1/L2 classification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90%+ accuracy (vs 75% keyword baseline)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CPU-deployable model serving via FastAPI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46520" y="4590288"/>
            <a:ext cx="5394960" cy="1481328"/>
          </a:xfrm>
          <a:prstGeom prst="rect">
            <a:avLst/>
          </a:prstGeom>
          <a:solidFill>
            <a:srgbClr val="1A1A1A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446520" y="4590288"/>
            <a:ext cx="1234440" cy="148132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46520" y="472744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446520" y="5102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5-8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772400" y="46360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Platform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772400" y="4974336"/>
            <a:ext cx="3977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Streamlit / Superset dashboard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Slack/email alerts on P0 review spikes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feedback loop &amp; roadmap integration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0" y="6400800"/>
            <a:ext cx="12161520" cy="438912"/>
          </a:xfrm>
          <a:prstGeom prst="rect">
            <a:avLst/>
          </a:prstGeom>
          <a:solidFill>
            <a:srgbClr val="0D0D0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0" y="6400800"/>
            <a:ext cx="12161520" cy="365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274320" y="6455664"/>
            <a:ext cx="1161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recommendations aren't speculative — the P0 items (crashes, booking failures) directly address the single most-cited complaints across 2,543 reviews. The 3-phase roadmap upgrades this keyword POC (~75% accuracy) into a real-time monitoring system, so product teams catch P0 spikes before they surface as a visible rating drop on the Play Store.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61520" cy="73152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11480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Source Code &amp; Dataset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pipeline — from web scraping to prioritised recommendations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794760" y="1609344"/>
            <a:ext cx="4572000" cy="457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0" y="1920240"/>
            <a:ext cx="9418320" cy="1005840"/>
          </a:xfrm>
          <a:prstGeom prst="rect">
            <a:avLst/>
          </a:prstGeom>
          <a:solidFill>
            <a:srgbClr val="0D0D0D"/>
          </a:solidFill>
          <a:ln w="12700">
            <a:solidFill>
              <a:srgbClr val="D4A017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1965960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2304288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</a:t>
            </a:r>
            <a:r>
              <a:rPr lang="en-US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Muthukumaran2098</a:t>
            </a: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/royal-enfield-review-analysis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611880"/>
            <a:ext cx="5303520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7033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📓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6850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Royal_Enfield_Review_Analysis.ipynb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401421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notebook: scraping → NLP → visualisations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7240" y="4709160"/>
            <a:ext cx="5303520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48006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782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reviews_raw.csv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54480" y="5111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2,543 real Play Store reviews (Jul 2022 – Apr 2026)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3611880"/>
            <a:ext cx="5303520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37960" y="37033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🐍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178040" y="36850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Project/ (pipeline scripts)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78040" y="401421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classifier.py · analyzer.py · visualizations.py · main.py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0" y="4709160"/>
            <a:ext cx="5303520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37960" y="48006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178040" y="4782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outputs/charts/  &amp;  .pptx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78040" y="5111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publication-ready charts + this presentation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  →  python main.py  →  All analysis reproduced in minutes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1545</Words>
  <Application>Microsoft Office PowerPoint</Application>
  <PresentationFormat>Widescreen</PresentationFormat>
  <Paragraphs>179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Royal Enfield App Review Analysis</dc:title>
  <dc:subject>PptxGenJS Presentation</dc:subject>
  <dc:creator>Data Science Assignment</dc:creator>
  <cp:lastModifiedBy>Muthukumaran P @ 4i</cp:lastModifiedBy>
  <cp:revision>2</cp:revision>
  <dcterms:created xsi:type="dcterms:W3CDTF">2026-04-07T10:57:07Z</dcterms:created>
  <dcterms:modified xsi:type="dcterms:W3CDTF">2026-04-07T12:13:44Z</dcterms:modified>
</cp:coreProperties>
</file>